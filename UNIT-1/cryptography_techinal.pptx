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7"/>
    <p:sldId id="267" r:id="rId16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  <Relationship Id="rId16" Type="http://schemas.openxmlformats.org/officeDocument/2006/relationships/slide" Target="slides/slide11.xml"/>
  <Relationship Id="rId17" Type="http://schemas.openxmlformats.org/officeDocument/2006/relationships/slide" Target="slides/slide12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65538" y="1724086"/>
            <a:ext cx="860145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38BDF8"/>
                </a:solidFill>
                <a:latin typeface="Times New Roman"/>
              </a:rPr>
              <a:t>INFORMATION SECURITY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9554" y="2383237"/>
            <a:ext cx="7274190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 dirty="0">
                <a:solidFill>
                  <a:srgbClr val="F8FAFC"/>
                </a:solidFill>
                <a:latin typeface="Times New Roman"/>
              </a:rPr>
              <a:t>Steganography vs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9480" y="3213834"/>
            <a:ext cx="5294783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0" i="0" u="none" dirty="0">
                <a:solidFill>
                  <a:schemeClr val="bg1"/>
                </a:solidFill>
                <a:latin typeface="Times New Roman"/>
              </a:rPr>
              <a:t>Hidden Security in the Digital World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9CE185-2BD0-5AD5-8EB9-E6D045736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4" y="70260"/>
            <a:ext cx="11921066" cy="105434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9" name="Rectangle 8"/>
          <p:cNvSpPr/>
          <p:nvPr/>
        </p:nvSpPr>
        <p:spPr>
          <a:xfrm>
            <a:off x="1541713" y="3868257"/>
            <a:ext cx="91871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CSA5102-CRYPTOGRAPHY AND NETWORK SECURITY</a:t>
            </a:r>
            <a:endParaRPr lang="en-IN" sz="28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68574" y="5006352"/>
            <a:ext cx="34304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Preethi R (192511352)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4350" y="4697255"/>
            <a:ext cx="10972800" cy="1135260"/>
          </a:xfrm>
          <a:prstGeom prst="roundRect">
            <a:avLst>
              <a:gd name="adj" fmla="val 671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1863143"/>
            <a:ext cx="537210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15050" y="1874639"/>
            <a:ext cx="537210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994" y="4697255"/>
            <a:ext cx="57150" cy="11352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077088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2052997"/>
            <a:ext cx="3810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9100" y="457919"/>
            <a:ext cx="647510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/>
              </a:rPr>
              <a:t>Introduction to Information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4820610"/>
            <a:ext cx="11296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Times New Roman"/>
              </a:rPr>
              <a:t>CORE SECURITY PARADIGM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5115415"/>
            <a:ext cx="1055370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 dirty="0">
                <a:solidFill>
                  <a:srgbClr val="FFFFFF"/>
                </a:solidFill>
                <a:latin typeface="Times New Roman"/>
              </a:rPr>
              <a:t>Cryptography conceals the </a:t>
            </a:r>
            <a:r>
              <a:rPr sz="1650" b="1" i="0" u="none" dirty="0">
                <a:solidFill>
                  <a:srgbClr val="38BDF8"/>
                </a:solidFill>
                <a:latin typeface="Times New Roman"/>
              </a:rPr>
              <a:t>meaning</a:t>
            </a:r>
            <a:r>
              <a:rPr sz="1650" b="1" i="0" u="none" dirty="0">
                <a:solidFill>
                  <a:srgbClr val="FFFFFF"/>
                </a:solidFill>
                <a:latin typeface="Times New Roman"/>
              </a:rPr>
              <a:t> of the message.</a:t>
            </a:r>
            <a:r>
              <a:rPr dirty="0"/>
              <a:t>
</a:t>
            </a:r>
            <a:r>
              <a:rPr sz="1650" b="1" i="0" u="none" dirty="0">
                <a:solidFill>
                  <a:srgbClr val="FFFFFF"/>
                </a:solidFill>
                <a:latin typeface="Times New Roman"/>
              </a:rPr>
              <a:t> Steganography conceals the </a:t>
            </a:r>
            <a:r>
              <a:rPr sz="1650" b="1" i="0" u="none" dirty="0">
                <a:solidFill>
                  <a:srgbClr val="34D399"/>
                </a:solidFill>
                <a:latin typeface="Times New Roman"/>
              </a:rPr>
              <a:t>existence</a:t>
            </a:r>
            <a:r>
              <a:rPr sz="1650" b="1" i="0" u="none" dirty="0">
                <a:solidFill>
                  <a:srgbClr val="FFFFFF"/>
                </a:solidFill>
                <a:latin typeface="Times New Roman"/>
              </a:rPr>
              <a:t> of the message.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51807"/>
            <a:ext cx="15283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Core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3024349"/>
            <a:ext cx="499110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Information Security: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Protecting data integrity, confidentiality, and availability from unauthorized access, alteration, or interception.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0811" y="2476472"/>
            <a:ext cx="246028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Need for Dual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2767174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862" y="2766608"/>
            <a:ext cx="4800600" cy="76944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Unsecured Public Channels: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Open network transmissions exposed to automated packet sniffing.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573443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3512293"/>
            <a:ext cx="4800600" cy="51296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Active Threat Vectors: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Eavesdropping, traffic analysis, and adversarial interception</a:t>
            </a:r>
            <a:r>
              <a:rPr sz="1350" b="0" i="0" u="none" dirty="0">
                <a:solidFill>
                  <a:srgbClr val="334155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10630"/>
            <a:ext cx="10972800" cy="1935360"/>
          </a:xfrm>
          <a:prstGeom prst="roundRect">
            <a:avLst>
              <a:gd name="adj" fmla="val 590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61246"/>
            <a:ext cx="5391150" cy="1057275"/>
          </a:xfrm>
          <a:prstGeom prst="roundRect">
            <a:avLst>
              <a:gd name="adj" fmla="val 900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4261246"/>
            <a:ext cx="5391150" cy="1057275"/>
          </a:xfrm>
          <a:prstGeom prst="roundRect">
            <a:avLst>
              <a:gd name="adj" fmla="val 900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5115183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/>
              </a:rPr>
              <a:t>Cryptography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948755"/>
            <a:ext cx="300338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Core Concepts &amp; Terminology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2309752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256398"/>
            <a:ext cx="8797280" cy="265714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Definition: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Mathematical art of rendering readable data unreadable to unauthorized observers.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2584043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2584995"/>
            <a:ext cx="7780015" cy="282129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Plaintext </a:t>
            </a:r>
            <a:r>
              <a:rPr b="1" i="0" u="none" dirty="0" smtClean="0">
                <a:solidFill>
                  <a:srgbClr val="334155"/>
                </a:solidFill>
                <a:latin typeface="Times New Roman"/>
              </a:rPr>
              <a:t>(P):</a:t>
            </a:r>
            <a:r>
              <a:rPr b="0" i="0" u="none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The original, intelligible message prior to mathematical encryption.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2858333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2859285"/>
            <a:ext cx="8748229" cy="282129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 err="1">
                <a:solidFill>
                  <a:srgbClr val="334155"/>
                </a:solidFill>
                <a:latin typeface="Times New Roman"/>
              </a:rPr>
              <a:t>Ciphertext</a:t>
            </a:r>
            <a:r>
              <a:rPr b="1" i="0" u="none" dirty="0">
                <a:solidFill>
                  <a:srgbClr val="334155"/>
                </a:solidFill>
                <a:latin typeface="Times New Roman"/>
              </a:rPr>
              <a:t> </a:t>
            </a:r>
            <a:r>
              <a:rPr b="1" i="0" u="none" dirty="0" smtClean="0">
                <a:solidFill>
                  <a:srgbClr val="334155"/>
                </a:solidFill>
                <a:latin typeface="Times New Roman"/>
              </a:rPr>
              <a:t>(C):</a:t>
            </a:r>
            <a:r>
              <a:rPr b="0" i="0" u="none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The scrambled, unintelligible output generated by the encryption algorithm.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132623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133576"/>
            <a:ext cx="8299388" cy="282129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Secret Key </a:t>
            </a:r>
            <a:r>
              <a:rPr b="1" i="0" u="none" dirty="0" smtClean="0">
                <a:solidFill>
                  <a:srgbClr val="334155"/>
                </a:solidFill>
                <a:latin typeface="Times New Roman"/>
              </a:rPr>
              <a:t>(K):</a:t>
            </a:r>
            <a:r>
              <a:rPr b="0" i="0" u="none" dirty="0" smtClean="0">
                <a:solidFill>
                  <a:srgbClr val="334155"/>
                </a:solidFill>
                <a:latin typeface="Times New Roman"/>
              </a:rPr>
              <a:t> 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Critical parameter governing the mathematical transformation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451746"/>
            <a:ext cx="21608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Substitution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727971"/>
            <a:ext cx="5105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Times New Roman"/>
              </a:rPr>
              <a:t>Replaces plaintext elements with other characters, symbols, or numerical bit patterns.</a:t>
            </a:r>
            <a:endParaRPr sz="1350" b="0" i="0" u="none" dirty="0">
              <a:solidFill>
                <a:srgbClr val="475569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1750" y="4451746"/>
            <a:ext cx="231044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Transposition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0" y="4727971"/>
            <a:ext cx="51054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Times New Roman"/>
              </a:rPr>
              <a:t>Permutes or reshuffles the positions of plaintext characters without altering their identities.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92453" y="1331746"/>
            <a:ext cx="7086690" cy="3027506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160856" y="4482385"/>
            <a:ext cx="8340307" cy="2093135"/>
          </a:xfrm>
          <a:prstGeom prst="roundRect">
            <a:avLst>
              <a:gd name="adj" fmla="val 97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950" y="4915501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50" y="5300353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962" y="5722474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300" y="6083870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95325"/>
            <a:ext cx="6652399" cy="4308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 u="none" dirty="0">
                <a:solidFill>
                  <a:srgbClr val="0F172A"/>
                </a:solidFill>
                <a:latin typeface="Times New Roman"/>
              </a:rPr>
              <a:t>Steganography Principles &amp; Carrier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97654"/>
            <a:ext cx="177196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Core 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99" y="1867785"/>
            <a:ext cx="6652399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334155"/>
                </a:solidFill>
                <a:latin typeface="Times New Roman"/>
              </a:rPr>
              <a:t>Originating from the Greek words </a:t>
            </a:r>
            <a:r>
              <a:rPr b="0" i="1" u="none" dirty="0" err="1">
                <a:solidFill>
                  <a:srgbClr val="334155"/>
                </a:solidFill>
                <a:latin typeface="Times New Roman"/>
              </a:rPr>
              <a:t>steganos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(covered/protected) and </a:t>
            </a:r>
            <a:r>
              <a:rPr b="0" i="1" u="none" dirty="0" err="1">
                <a:solidFill>
                  <a:srgbClr val="334155"/>
                </a:solidFill>
                <a:latin typeface="Times New Roman"/>
              </a:rPr>
              <a:t>graphia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(writing), steganography establishes a communication channel that avoids raising suspicion.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2837" y="4568525"/>
            <a:ext cx="258628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Digital Carrier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40" y="2712642"/>
            <a:ext cx="5914120" cy="265714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Cover Medium: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Harmless digital file used to host the payload.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071284"/>
            <a:ext cx="6350200" cy="265714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>
                <a:solidFill>
                  <a:srgbClr val="334155"/>
                </a:solidFill>
                <a:latin typeface="Times New Roman"/>
              </a:rPr>
              <a:t>Secret Payload: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Confidential message embedded within the carrier.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81" y="3493552"/>
            <a:ext cx="5847755" cy="265714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 err="1">
                <a:solidFill>
                  <a:srgbClr val="334155"/>
                </a:solidFill>
                <a:latin typeface="Times New Roman"/>
              </a:rPr>
              <a:t>Stego</a:t>
            </a:r>
            <a:r>
              <a:rPr b="1" i="0" u="none" dirty="0">
                <a:solidFill>
                  <a:srgbClr val="334155"/>
                </a:solidFill>
                <a:latin typeface="Times New Roman"/>
              </a:rPr>
              <a:t> Key:</a:t>
            </a:r>
            <a:r>
              <a:rPr b="0" i="0" u="none" dirty="0">
                <a:solidFill>
                  <a:srgbClr val="334155"/>
                </a:solidFill>
                <a:latin typeface="Times New Roman"/>
              </a:rPr>
              <a:t> Optional key used to control embedding locations.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11" y="3885265"/>
            <a:ext cx="5430974" cy="265714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i="0" u="none" dirty="0" err="1" smtClean="0">
                <a:solidFill>
                  <a:srgbClr val="334155"/>
                </a:solidFill>
                <a:latin typeface="Times New Roman"/>
              </a:rPr>
              <a:t>Stego</a:t>
            </a:r>
            <a:r>
              <a:rPr b="1" i="0" u="none" dirty="0" smtClean="0">
                <a:solidFill>
                  <a:srgbClr val="334155"/>
                </a:solidFill>
                <a:latin typeface="Times New Roman"/>
              </a:rPr>
              <a:t> Object:</a:t>
            </a:r>
            <a:r>
              <a:rPr b="0" i="0" u="none" dirty="0" smtClean="0">
                <a:solidFill>
                  <a:srgbClr val="334155"/>
                </a:solidFill>
                <a:latin typeface="Times New Roman"/>
              </a:rPr>
              <a:t> Final modified carrier holding hidden data.</a:t>
            </a:r>
            <a:endParaRPr b="0" i="0" u="none" dirty="0">
              <a:solidFill>
                <a:srgbClr val="334155"/>
              </a:solidFill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84700" y="4901440"/>
            <a:ext cx="151964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Image Carriers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0097" y="4948613"/>
            <a:ext cx="539436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Times New Roman"/>
              </a:rPr>
              <a:t>PNG,</a:t>
            </a:r>
            <a:r>
              <a:rPr b="0" i="0" u="none" dirty="0">
                <a:solidFill>
                  <a:srgbClr val="64748B"/>
                </a:solidFill>
                <a:latin typeface="Times New Roman"/>
              </a:rPr>
              <a:t> </a:t>
            </a:r>
            <a:r>
              <a:rPr sz="1600" b="0" i="0" u="none" dirty="0">
                <a:solidFill>
                  <a:srgbClr val="64748B"/>
                </a:solidFill>
                <a:latin typeface="Times New Roman"/>
              </a:rPr>
              <a:t>BMP, TIFF (uncompressed pixel grids offer high capacity).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4700" y="5294276"/>
            <a:ext cx="15068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Audio Carriers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273" y="5368262"/>
            <a:ext cx="484228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Times New Roman"/>
              </a:rPr>
              <a:t>WAV, MP3 (hides data in noise floors or phase spectrums).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2386" y="5713781"/>
            <a:ext cx="147258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Video Carriers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0097" y="5740148"/>
            <a:ext cx="580780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Times New Roman"/>
              </a:rPr>
              <a:t>MP4, AVI (combines audio/visual channels for large payload support).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2386" y="6068204"/>
            <a:ext cx="133177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Times New Roman"/>
              </a:rPr>
              <a:t>Text Carriers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983" y="6097979"/>
            <a:ext cx="601998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64748B"/>
                </a:solidFill>
                <a:latin typeface="Times New Roman"/>
              </a:rPr>
              <a:t>HTML, PDF, White spaces, and invisible zero-width Unicode characters.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998464"/>
            <a:ext cx="5381625" cy="3032521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9825" y="1998464"/>
            <a:ext cx="5362575" cy="3032521"/>
          </a:xfrm>
          <a:prstGeom prst="roundRect">
            <a:avLst>
              <a:gd name="adj" fmla="val 376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48425" y="2806154"/>
            <a:ext cx="4905375" cy="1476375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10350" y="3539579"/>
            <a:ext cx="45815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7225" y="659308"/>
            <a:ext cx="663297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>
                <a:solidFill>
                  <a:srgbClr val="0F172A"/>
                </a:solidFill>
                <a:latin typeface="Times New Roman"/>
              </a:rPr>
              <a:t>Least Significant Bit (LSB)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236589"/>
            <a:ext cx="643830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/>
              </a:rPr>
              <a:t>How LSB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2227064"/>
            <a:ext cx="50006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Times New Roman"/>
              </a:rPr>
              <a:t>Binary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375844"/>
            <a:ext cx="50006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94A3B8"/>
                </a:solidFill>
                <a:latin typeface="Times New Roman"/>
              </a:rPr>
              <a:t>Extraction:</a:t>
            </a:r>
            <a:r>
              <a:rPr sz="1200" b="0" i="0" u="none">
                <a:solidFill>
                  <a:srgbClr val="94A3B8"/>
                </a:solidFill>
                <a:latin typeface="Times New Roman"/>
              </a:rPr>
              <a:t> Receiver extracts the last bit of each target byte and reconstructs original secret bytes.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2597586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598539"/>
            <a:ext cx="48101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Times New Roman"/>
              </a:rPr>
              <a:t>Pixel Architecture:</a:t>
            </a:r>
            <a:r>
              <a:rPr sz="1350" b="0" i="0" u="none">
                <a:solidFill>
                  <a:srgbClr val="334155"/>
                </a:solidFill>
                <a:latin typeface="Times New Roman"/>
              </a:rPr>
              <a:t> Digital images store Red, Green, and Blue (RGB) color channels as 8-bit bytes (0 to 255).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146167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3147119"/>
            <a:ext cx="48101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Times New Roman"/>
              </a:rPr>
              <a:t>Bit Weighting:</a:t>
            </a:r>
            <a:r>
              <a:rPr sz="1350" b="0" i="0" u="none">
                <a:solidFill>
                  <a:srgbClr val="334155"/>
                </a:solidFill>
                <a:latin typeface="Times New Roman"/>
              </a:rPr>
              <a:t> The rightmost bit (LSB) carries the lowest value ($2^0 = 1$), contributing minimal optical influence.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3694747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3695700"/>
            <a:ext cx="48101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Times New Roman"/>
              </a:rPr>
              <a:t>Data Insertion:</a:t>
            </a:r>
            <a:r>
              <a:rPr sz="1350" b="0" i="0" u="none">
                <a:solidFill>
                  <a:srgbClr val="334155"/>
                </a:solidFill>
                <a:latin typeface="Times New Roman"/>
              </a:rPr>
              <a:t> Payload secret bits replace the LSB of cover pixels sequentially or pseudorandomly.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4243327"/>
            <a:ext cx="571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Times New Roman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244280"/>
            <a:ext cx="48101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Times New Roman"/>
              </a:rPr>
              <a:t>Perceptual Invisibility:</a:t>
            </a:r>
            <a:r>
              <a:rPr sz="1350" b="0" i="0" u="none">
                <a:solidFill>
                  <a:srgbClr val="334155"/>
                </a:solidFill>
                <a:latin typeface="Times New Roman"/>
              </a:rPr>
              <a:t> Altering the LSB causes a maximum color shift of 1/255 (0.39%), undetectable by human vision.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2465189"/>
            <a:ext cx="5743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Times New Roman"/>
              </a:rPr>
              <a:t>Embedding Bit '0' into Pixel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2968079"/>
            <a:ext cx="5581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Times New Roman"/>
              </a:rPr>
              <a:t>Original Red Channel Value: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0350" y="3206204"/>
            <a:ext cx="5581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Times New Roman"/>
              </a:rPr>
              <a:t>155 = Binary </a:t>
            </a:r>
            <a:r>
              <a:rPr sz="1500" b="1" i="0" u="none">
                <a:solidFill>
                  <a:srgbClr val="F8FAFC"/>
                </a:solidFill>
                <a:latin typeface="Times New Roman"/>
              </a:rPr>
              <a:t>1001101</a:t>
            </a:r>
            <a:r>
              <a:rPr sz="1500" b="1" i="0" u="none">
                <a:solidFill>
                  <a:srgbClr val="EF4444"/>
                </a:solidFill>
                <a:latin typeface="Times New Roman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0350" y="3663404"/>
            <a:ext cx="5581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BD5E1"/>
                </a:solidFill>
                <a:latin typeface="Times New Roman"/>
              </a:rPr>
              <a:t>Action:</a:t>
            </a:r>
            <a:r>
              <a:rPr sz="1350" b="0" i="0" u="none">
                <a:solidFill>
                  <a:srgbClr val="CBD5E1"/>
                </a:solidFill>
                <a:latin typeface="Times New Roman"/>
              </a:rPr>
              <a:t> Replace LSB with Secret Bit </a:t>
            </a:r>
            <a:r>
              <a:rPr sz="1350" b="1" i="0" u="none">
                <a:solidFill>
                  <a:srgbClr val="CBD5E1"/>
                </a:solidFill>
                <a:latin typeface="Times New Roman"/>
              </a:rPr>
              <a:t>'0'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0350" y="3901529"/>
            <a:ext cx="5581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Times New Roman"/>
              </a:rPr>
              <a:t>Result = Binary </a:t>
            </a:r>
            <a:r>
              <a:rPr sz="1500" b="1" i="0" u="none">
                <a:solidFill>
                  <a:srgbClr val="F8FAFC"/>
                </a:solidFill>
                <a:latin typeface="Times New Roman"/>
              </a:rPr>
              <a:t>1001101</a:t>
            </a:r>
            <a:r>
              <a:rPr sz="1500" b="1" i="0" u="none">
                <a:solidFill>
                  <a:srgbClr val="34D399"/>
                </a:solidFill>
                <a:latin typeface="Times New Roman"/>
              </a:rPr>
              <a:t>0 (154)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90762"/>
            <a:ext cx="10972800" cy="31051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290762"/>
          <a:ext cx="10963274" cy="3105150"/>
        </p:xfrm>
        <a:graphic>
          <a:graphicData uri="http://schemas.openxmlformats.org/drawingml/2006/table">
            <a:tbl>
              <a:tblPr/>
              <a:tblGrid>
                <a:gridCol w="239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59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Times New Roman"/>
                        </a:rPr>
                        <a:t>Cryptography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4D399"/>
                          </a:solidFill>
                          <a:latin typeface="Times New Roman"/>
                        </a:rPr>
                        <a:t>Steganography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/>
                        </a:rPr>
                        <a:t>Primary Goal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Protect message content (Meaning)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Conceal message existence (Presence)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59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/>
                        </a:rPr>
                        <a:t>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Mathematical key-based encryption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Embedding secret bits into cover media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59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/>
                        </a:rPr>
                        <a:t>Resulting Format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Scrambled Ciphertext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Innocent-looking Stego 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59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/>
                        </a:rPr>
                        <a:t>Visibility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Visible (obviously confidential data)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Invisible (unnoticeable transmission)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59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/>
                        </a:rPr>
                        <a:t>Primary Attacks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Cryptanalysis (key cracking)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Steganalysis (pattern detection)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59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/>
                        </a:rPr>
                        <a:t>Key Examples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AES, RSA, ECC, SHA-256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LSB Substitution, Echo Hiding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771525"/>
            <a:ext cx="572111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Times New Roman"/>
              </a:rPr>
              <a:t>Cryptography vs Steganography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5625"/>
            <a:ext cx="3530649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095625"/>
            <a:ext cx="3530649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095625"/>
            <a:ext cx="3530649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905375"/>
            <a:ext cx="5391150" cy="1419225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4905375"/>
            <a:ext cx="5391150" cy="1419225"/>
          </a:xfrm>
          <a:prstGeom prst="roundRect">
            <a:avLst>
              <a:gd name="adj" fmla="val 805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29565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774" y="3295650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3295650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5105400"/>
            <a:ext cx="2381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5105400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71525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imes New Roman"/>
              </a:rPr>
              <a:t>Real-World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65760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Digital Watermarking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914775"/>
            <a:ext cx="3225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Embeds invisible copyright ownership metadata directly into commercial media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774" y="3657600"/>
            <a:ext cx="410891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Copyright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774" y="3914775"/>
            <a:ext cx="3225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Traces unauthorized media redistribution and proves intellectual property ownership.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1924" y="3657600"/>
            <a:ext cx="39400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Digital Forensics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1924" y="3914775"/>
            <a:ext cx="3225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Recovers concealed criminal artifacts and verifies digital evidence integrity.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5467350"/>
            <a:ext cx="65508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Whistleblower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5724525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Allows investigative journalists to transmit sensitive documentation safely under surveillance.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5467350"/>
            <a:ext cx="5800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Secure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5724525"/>
            <a:ext cx="5086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Conceals confidential medical records and biometric credentials within standard media archives.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1191" y="695325"/>
            <a:ext cx="4316083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 u="none" dirty="0" smtClean="0">
                <a:solidFill>
                  <a:srgbClr val="0F172A"/>
                </a:solidFill>
                <a:latin typeface="Times New Roman"/>
              </a:rPr>
              <a:t>Advantages</a:t>
            </a:r>
            <a:r>
              <a:rPr lang="en-IN" sz="2700" b="1" dirty="0" smtClean="0">
                <a:solidFill>
                  <a:srgbClr val="0F172A"/>
                </a:solidFill>
                <a:latin typeface="Times New Roman"/>
              </a:rPr>
              <a:t>&amp; </a:t>
            </a:r>
            <a:r>
              <a:rPr sz="2700" b="1" i="0" u="none" dirty="0" smtClean="0">
                <a:solidFill>
                  <a:srgbClr val="0F172A"/>
                </a:solidFill>
                <a:latin typeface="Times New Roman"/>
              </a:rPr>
              <a:t>Limitations </a:t>
            </a:r>
            <a:endParaRPr sz="2700" b="1" i="0" u="none" dirty="0">
              <a:solidFill>
                <a:srgbClr val="0F172A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91250" y="5838825"/>
            <a:ext cx="6000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Times New Roman"/>
              </a:rPr>
              <a:t>Post-Quantum Cryptography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4581" y="1508040"/>
            <a:ext cx="6096000" cy="20005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Cryptography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confidential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integrity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Secures data during transmission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banking, websites, and messaging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3625" y="140449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the existence of a message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like a normal image/audio/video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additional layer of 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covert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combined with cryptography for stronger protection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964" y="3817946"/>
            <a:ext cx="6096000" cy="20005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Cryptography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secure key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Encryption/decryption can require processing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keys can be cracked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hide the existence of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keys can make data unrecoverable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5487" y="3871764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capacity in the carrier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data can be detected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 or editing may destroy the hidden message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hidden data may change the carrier noticeably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suitable embedding and extraction methods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7925"/>
            <a:ext cx="109728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925" y="27622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34099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4057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Times New Roman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47725"/>
            <a:ext cx="115824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Times New Roman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76225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3525" y="2881312"/>
            <a:ext cx="87179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Cryptography secures data content by rendering plaintext into unreadable ciphertext.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40995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3525" y="3529012"/>
            <a:ext cx="9452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Steganography secures data presence by embedding confidential payloads inside carrier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4057650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3525" y="4176712"/>
            <a:ext cx="103424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/>
              </a:rPr>
              <a:t>Synergistic Protection: Integrating both techniques achieves comprehensive defense-in-depth security.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424686" y="2803585"/>
            <a:ext cx="4968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609600" y="695325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i="0" dirty="0">
                <a:solidFill>
                  <a:srgbClr val="0F172A"/>
                </a:solidFill>
                <a:latin typeface="Times New Roman"/>
              </a:rPr>
              <a:t>Transposition Cipher &amp; Its Types</a:t>
            </a:r>
          </a:p>
        </p:txBody>
      </p:sp>
      <p:sp>
        <p:nvSpPr>
          <p:cNvPr id="3" name="Definition Card 3"/>
          <p:cNvSpPr/>
          <p:nvPr/>
        </p:nvSpPr>
        <p:spPr>
          <a:xfrm>
            <a:off x="609600" y="1463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" name="Definition 4"/>
          <p:cNvSpPr txBox="1"/>
          <p:nvPr/>
        </p:nvSpPr>
        <p:spPr>
          <a:xfrm>
            <a:off x="83820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Times New Roman"/>
              </a:rPr>
              <a:t>Definition: </a:t>
            </a:r>
            <a:r>
              <a:rPr lang="en-US" sz="1600" b="0" i="0" dirty="0">
                <a:solidFill>
                  <a:srgbClr val="334155"/>
                </a:solidFill>
                <a:latin typeface="Times New Roman"/>
              </a:rPr>
              <a:t>Encryption technique where character positions are permuted or reordered, but character identities remain unchanged.</a:t>
            </a:r>
          </a:p>
        </p:txBody>
      </p:sp>
      <p:sp>
        <p:nvSpPr>
          <p:cNvPr id="5" name="Card 5"/>
          <p:cNvSpPr/>
          <p:nvPr/>
        </p:nvSpPr>
        <p:spPr>
          <a:xfrm>
            <a:off x="609600" y="2606040"/>
            <a:ext cx="3505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6" name="Badge 6"/>
          <p:cNvSpPr/>
          <p:nvPr/>
        </p:nvSpPr>
        <p:spPr>
          <a:xfrm>
            <a:off x="792480" y="2788920"/>
            <a:ext cx="365760" cy="36576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Card Title 7"/>
          <p:cNvSpPr txBox="1"/>
          <p:nvPr/>
        </p:nvSpPr>
        <p:spPr>
          <a:xfrm>
            <a:off x="1249680" y="2788920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Times New Roman"/>
              </a:rPr>
              <a:t>Rail Fence Cipher</a:t>
            </a:r>
          </a:p>
        </p:txBody>
      </p:sp>
      <p:sp>
        <p:nvSpPr>
          <p:cNvPr id="8" name="Card Text 8"/>
          <p:cNvSpPr txBox="1"/>
          <p:nvPr/>
        </p:nvSpPr>
        <p:spPr>
          <a:xfrm>
            <a:off x="792480" y="3337560"/>
            <a:ext cx="3139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Times New Roman"/>
              </a:rPr>
              <a:t>Writes plaintext diagonally in a zig-zag pattern across multiple parallel “rails” and reads row-by-row.</a:t>
            </a:r>
          </a:p>
        </p:txBody>
      </p:sp>
      <p:sp>
        <p:nvSpPr>
          <p:cNvPr id="9" name="Example Box 9"/>
          <p:cNvSpPr/>
          <p:nvPr/>
        </p:nvSpPr>
        <p:spPr>
          <a:xfrm>
            <a:off x="792480" y="4389120"/>
            <a:ext cx="3139440" cy="16459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0" name="Example Text 10"/>
          <p:cNvSpPr txBox="1"/>
          <p:nvPr/>
        </p:nvSpPr>
        <p:spPr>
          <a:xfrm>
            <a:off x="929640" y="4526280"/>
            <a:ext cx="2865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0284C7"/>
                </a:solidFill>
                <a:latin typeface="Times New Roman"/>
              </a:rPr>
              <a:t>EXAMPLE: MEET ME ON 2 RAILS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Row 1: 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M  E  M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Row 2: 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E  T  E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Ciphertext: 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MEMETE</a:t>
            </a:r>
          </a:p>
        </p:txBody>
      </p:sp>
      <p:sp>
        <p:nvSpPr>
          <p:cNvPr id="11" name="Card 11"/>
          <p:cNvSpPr/>
          <p:nvPr/>
        </p:nvSpPr>
        <p:spPr>
          <a:xfrm>
            <a:off x="4343400" y="2606040"/>
            <a:ext cx="3505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2" name="Badge 12"/>
          <p:cNvSpPr/>
          <p:nvPr/>
        </p:nvSpPr>
        <p:spPr>
          <a:xfrm>
            <a:off x="4526280" y="278892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Card Title 13"/>
          <p:cNvSpPr txBox="1"/>
          <p:nvPr/>
        </p:nvSpPr>
        <p:spPr>
          <a:xfrm>
            <a:off x="4983480" y="2788920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Times New Roman"/>
              </a:rPr>
              <a:t>Columnar Transposition</a:t>
            </a:r>
          </a:p>
        </p:txBody>
      </p:sp>
      <p:sp>
        <p:nvSpPr>
          <p:cNvPr id="14" name="Card Text 14"/>
          <p:cNvSpPr txBox="1"/>
          <p:nvPr/>
        </p:nvSpPr>
        <p:spPr>
          <a:xfrm>
            <a:off x="4526280" y="3337560"/>
            <a:ext cx="3139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Times New Roman"/>
              </a:rPr>
              <a:t>Writes plaintext horizontally in a grid of fixed width and reads out characters vertically column-by-column based on a numeric key order.</a:t>
            </a:r>
          </a:p>
        </p:txBody>
      </p:sp>
      <p:sp>
        <p:nvSpPr>
          <p:cNvPr id="15" name="Example Box 15"/>
          <p:cNvSpPr/>
          <p:nvPr/>
        </p:nvSpPr>
        <p:spPr>
          <a:xfrm>
            <a:off x="4526280" y="4389120"/>
            <a:ext cx="3139440" cy="16459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Example Text 16"/>
          <p:cNvSpPr txBox="1"/>
          <p:nvPr/>
        </p:nvSpPr>
        <p:spPr>
          <a:xfrm>
            <a:off x="4663440" y="4526280"/>
            <a:ext cx="2865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059669"/>
                </a:solidFill>
                <a:latin typeface="Times New Roman"/>
              </a:rPr>
              <a:t>EXAMPLE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Row-Column Transposition Cipher</a:t>
            </a:r>
          </a:p>
        </p:txBody>
      </p:sp>
      <p:sp>
        <p:nvSpPr>
          <p:cNvPr id="17" name="Card 17"/>
          <p:cNvSpPr/>
          <p:nvPr/>
        </p:nvSpPr>
        <p:spPr>
          <a:xfrm>
            <a:off x="8077200" y="2606040"/>
            <a:ext cx="3505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8" name="Badge 18"/>
          <p:cNvSpPr/>
          <p:nvPr/>
        </p:nvSpPr>
        <p:spPr>
          <a:xfrm>
            <a:off x="8260080" y="278892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Card Title 19"/>
          <p:cNvSpPr txBox="1"/>
          <p:nvPr/>
        </p:nvSpPr>
        <p:spPr>
          <a:xfrm>
            <a:off x="8717280" y="2788920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Times New Roman"/>
              </a:rPr>
              <a:t>Route Cipher</a:t>
            </a:r>
          </a:p>
        </p:txBody>
      </p:sp>
      <p:sp>
        <p:nvSpPr>
          <p:cNvPr id="20" name="Card Text 20"/>
          <p:cNvSpPr txBox="1"/>
          <p:nvPr/>
        </p:nvSpPr>
        <p:spPr>
          <a:xfrm>
            <a:off x="8260080" y="3337560"/>
            <a:ext cx="3139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Times New Roman"/>
              </a:rPr>
              <a:t>Writes plaintext in a grid and reads characters along a predefined pattern.</a:t>
            </a:r>
          </a:p>
        </p:txBody>
      </p:sp>
      <p:sp>
        <p:nvSpPr>
          <p:cNvPr id="21" name="Example Box 21"/>
          <p:cNvSpPr/>
          <p:nvPr/>
        </p:nvSpPr>
        <p:spPr>
          <a:xfrm>
            <a:off x="8260080" y="4389120"/>
            <a:ext cx="3139440" cy="16459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2" name="Example Text 22"/>
          <p:cNvSpPr txBox="1"/>
          <p:nvPr/>
        </p:nvSpPr>
        <p:spPr>
          <a:xfrm>
            <a:off x="8397240" y="4526280"/>
            <a:ext cx="2865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6366F1"/>
                </a:solidFill>
                <a:latin typeface="Times New Roman"/>
              </a:rPr>
              <a:t>READING PATTERNS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Spirals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Zig-zag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Diagonals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609600" y="695325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3200" b="1" i="0" dirty="0">
                <a:solidFill>
                  <a:srgbClr val="0F172A"/>
                </a:solidFill>
                <a:latin typeface="Times New Roman"/>
              </a:rPr>
              <a:t>Substitution Cipher &amp; Its Types</a:t>
            </a:r>
          </a:p>
        </p:txBody>
      </p:sp>
      <p:sp>
        <p:nvSpPr>
          <p:cNvPr id="3" name="Definition Card 3"/>
          <p:cNvSpPr/>
          <p:nvPr/>
        </p:nvSpPr>
        <p:spPr>
          <a:xfrm>
            <a:off x="609600" y="1463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" name="Definition 4"/>
          <p:cNvSpPr txBox="1"/>
          <p:nvPr/>
        </p:nvSpPr>
        <p:spPr>
          <a:xfrm>
            <a:off x="83820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600" b="1" i="0" dirty="0">
                <a:solidFill>
                  <a:srgbClr val="0F172A"/>
                </a:solidFill>
                <a:latin typeface="Times New Roman"/>
              </a:rPr>
              <a:t>Definition: </a:t>
            </a:r>
            <a:r>
              <a:rPr lang="en-US" sz="1600" b="0" i="0" dirty="0">
                <a:solidFill>
                  <a:srgbClr val="334155"/>
                </a:solidFill>
                <a:latin typeface="Times New Roman"/>
              </a:rPr>
              <a:t>Encryption technique where each character or group of characters in plaintext is replaced by another symbol while maintaining character positions.</a:t>
            </a:r>
          </a:p>
        </p:txBody>
      </p:sp>
      <p:sp>
        <p:nvSpPr>
          <p:cNvPr id="5" name="Card 5"/>
          <p:cNvSpPr/>
          <p:nvPr/>
        </p:nvSpPr>
        <p:spPr>
          <a:xfrm>
            <a:off x="609600" y="2606040"/>
            <a:ext cx="3505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6" name="Badge 6"/>
          <p:cNvSpPr/>
          <p:nvPr/>
        </p:nvSpPr>
        <p:spPr>
          <a:xfrm>
            <a:off x="792480" y="2788920"/>
            <a:ext cx="365760" cy="36576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Card Title 7"/>
          <p:cNvSpPr txBox="1"/>
          <p:nvPr/>
        </p:nvSpPr>
        <p:spPr>
          <a:xfrm>
            <a:off x="1249680" y="2788920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Times New Roman"/>
              </a:rPr>
              <a:t>Monoalphabetic Cipher</a:t>
            </a:r>
          </a:p>
        </p:txBody>
      </p:sp>
      <p:sp>
        <p:nvSpPr>
          <p:cNvPr id="8" name="Card Text 8"/>
          <p:cNvSpPr txBox="1"/>
          <p:nvPr/>
        </p:nvSpPr>
        <p:spPr>
          <a:xfrm>
            <a:off x="792480" y="3337560"/>
            <a:ext cx="3139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Times New Roman"/>
              </a:rPr>
              <a:t>Uses a single fixed substitution alphabet throughout the entire message.</a:t>
            </a:r>
          </a:p>
        </p:txBody>
      </p:sp>
      <p:sp>
        <p:nvSpPr>
          <p:cNvPr id="9" name="Example Box 9"/>
          <p:cNvSpPr/>
          <p:nvPr/>
        </p:nvSpPr>
        <p:spPr>
          <a:xfrm>
            <a:off x="792480" y="4389120"/>
            <a:ext cx="3139440" cy="16459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0" name="Example Text 10"/>
          <p:cNvSpPr txBox="1"/>
          <p:nvPr/>
        </p:nvSpPr>
        <p:spPr>
          <a:xfrm>
            <a:off x="929640" y="4526280"/>
            <a:ext cx="2865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0284C7"/>
                </a:solidFill>
                <a:latin typeface="Times New Roman"/>
              </a:rPr>
              <a:t>EXAMPLE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Caesar Cipher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 – shifts letters by fixed positions, e.g., +3 shift turns A → D, HELLO → KHOOR.</a:t>
            </a:r>
          </a:p>
        </p:txBody>
      </p:sp>
      <p:sp>
        <p:nvSpPr>
          <p:cNvPr id="11" name="Card 11"/>
          <p:cNvSpPr/>
          <p:nvPr/>
        </p:nvSpPr>
        <p:spPr>
          <a:xfrm>
            <a:off x="4343400" y="2606040"/>
            <a:ext cx="3505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2" name="Badge 12"/>
          <p:cNvSpPr/>
          <p:nvPr/>
        </p:nvSpPr>
        <p:spPr>
          <a:xfrm>
            <a:off x="4526280" y="278892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Card Title 13"/>
          <p:cNvSpPr txBox="1"/>
          <p:nvPr/>
        </p:nvSpPr>
        <p:spPr>
          <a:xfrm>
            <a:off x="4983480" y="2788920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Times New Roman"/>
              </a:rPr>
              <a:t>Polyalphabetic Cipher</a:t>
            </a:r>
          </a:p>
        </p:txBody>
      </p:sp>
      <p:sp>
        <p:nvSpPr>
          <p:cNvPr id="14" name="Card Text 14"/>
          <p:cNvSpPr txBox="1"/>
          <p:nvPr/>
        </p:nvSpPr>
        <p:spPr>
          <a:xfrm>
            <a:off x="4526280" y="3337560"/>
            <a:ext cx="3139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Times New Roman"/>
              </a:rPr>
              <a:t>Uses multiple substitution alphabets depending on a repeating key word.</a:t>
            </a:r>
          </a:p>
        </p:txBody>
      </p:sp>
      <p:sp>
        <p:nvSpPr>
          <p:cNvPr id="15" name="Example Box 15"/>
          <p:cNvSpPr/>
          <p:nvPr/>
        </p:nvSpPr>
        <p:spPr>
          <a:xfrm>
            <a:off x="4526280" y="4389120"/>
            <a:ext cx="3139440" cy="16459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Example Text 16"/>
          <p:cNvSpPr txBox="1"/>
          <p:nvPr/>
        </p:nvSpPr>
        <p:spPr>
          <a:xfrm>
            <a:off x="4663440" y="4526280"/>
            <a:ext cx="2865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059669"/>
                </a:solidFill>
                <a:latin typeface="Times New Roman"/>
              </a:rPr>
              <a:t>EXAMPLE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Vigenère Cipher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 – uses a key phrase to shift each character dynamically.</a:t>
            </a:r>
          </a:p>
        </p:txBody>
      </p:sp>
      <p:sp>
        <p:nvSpPr>
          <p:cNvPr id="17" name="Card 17"/>
          <p:cNvSpPr/>
          <p:nvPr/>
        </p:nvSpPr>
        <p:spPr>
          <a:xfrm>
            <a:off x="8077200" y="2606040"/>
            <a:ext cx="3505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8" name="Badge 18"/>
          <p:cNvSpPr/>
          <p:nvPr/>
        </p:nvSpPr>
        <p:spPr>
          <a:xfrm>
            <a:off x="8260080" y="278892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Card Title 19"/>
          <p:cNvSpPr txBox="1"/>
          <p:nvPr/>
        </p:nvSpPr>
        <p:spPr>
          <a:xfrm>
            <a:off x="8717280" y="2788920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i="0" dirty="0">
                <a:solidFill>
                  <a:srgbClr val="0F172A"/>
                </a:solidFill>
                <a:latin typeface="Times New Roman"/>
              </a:rPr>
              <a:t>Polygraphic Cipher</a:t>
            </a:r>
          </a:p>
        </p:txBody>
      </p:sp>
      <p:sp>
        <p:nvSpPr>
          <p:cNvPr id="20" name="Card Text 20"/>
          <p:cNvSpPr txBox="1"/>
          <p:nvPr/>
        </p:nvSpPr>
        <p:spPr>
          <a:xfrm>
            <a:off x="8260080" y="3337560"/>
            <a:ext cx="31394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475569"/>
                </a:solidFill>
                <a:latin typeface="Times New Roman"/>
              </a:rPr>
              <a:t>Substitutes groups of letters (digraphs or blocks) simultaneously rather than single letters.</a:t>
            </a:r>
          </a:p>
        </p:txBody>
      </p:sp>
      <p:sp>
        <p:nvSpPr>
          <p:cNvPr id="21" name="Example Box 21"/>
          <p:cNvSpPr/>
          <p:nvPr/>
        </p:nvSpPr>
        <p:spPr>
          <a:xfrm>
            <a:off x="8260080" y="4389120"/>
            <a:ext cx="3139440" cy="16459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2" name="Example Text 22"/>
          <p:cNvSpPr txBox="1"/>
          <p:nvPr/>
        </p:nvSpPr>
        <p:spPr>
          <a:xfrm>
            <a:off x="8397240" y="4526280"/>
            <a:ext cx="28651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200" b="1" i="0" dirty="0">
                <a:solidFill>
                  <a:srgbClr val="6366F1"/>
                </a:solidFill>
                <a:latin typeface="Times New Roman"/>
              </a:rPr>
              <a:t>EXAMPLES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Playfair Cipher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 – uses a 5×5 matrix grid.</a:t>
            </a:r>
          </a:p>
          <a:p>
            <a:pPr algn="l">
              <a:spcBef>
                <a:spcPts val="300"/>
              </a:spcBef>
            </a:pPr>
            <a:r>
              <a:rPr lang="en-US" sz="1400" b="1" i="0" dirty="0">
                <a:solidFill>
                  <a:srgbClr val="0F172A"/>
                </a:solidFill>
                <a:latin typeface="Times New Roman"/>
              </a:rPr>
              <a:t>Hill Cipher</a:t>
            </a:r>
            <a:r>
              <a:rPr lang="en-US" sz="1400" b="0" i="0" dirty="0">
                <a:solidFill>
                  <a:srgbClr val="334155"/>
                </a:solidFill>
                <a:latin typeface="Times New Roman"/>
              </a:rPr>
              <a:t> – uses linear algebra matrix multiplication.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787</Words>
  <Application>Microsoft Office PowerPoint</Application>
  <PresentationFormat>Widescreen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2026-10-06T16:44:21Z</dcterms:modified>
  <cp:category/>
</cp:coreProperties>
</file>